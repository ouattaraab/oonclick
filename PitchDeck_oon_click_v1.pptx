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82296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92024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27432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82296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37160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2024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27432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82296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37160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92024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7432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82296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37160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92024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82296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92024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7432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82296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137160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1920240"/>
            <a:ext cx="54864" cy="54864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7315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oon</a:t>
            </a:r>
            <a:endParaRPr lang="en-US" sz="8800" dirty="0"/>
          </a:p>
        </p:txBody>
      </p:sp>
      <p:sp>
        <p:nvSpPr>
          <p:cNvPr id="28" name="Text 26"/>
          <p:cNvSpPr/>
          <p:nvPr/>
        </p:nvSpPr>
        <p:spPr>
          <a:xfrm>
            <a:off x="2240280" y="731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.click</a:t>
            </a:r>
            <a:endParaRPr lang="en-US" sz="8800" dirty="0"/>
          </a:p>
        </p:txBody>
      </p:sp>
      <p:sp>
        <p:nvSpPr>
          <p:cNvPr id="29" name="Text 27"/>
          <p:cNvSpPr/>
          <p:nvPr/>
        </p:nvSpPr>
        <p:spPr>
          <a:xfrm>
            <a:off x="365760" y="2194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plateforme africaine de publicité rémunérée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2377440" cy="182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 une pub. Gagne de l'argent.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Investisseurs  ·  Mars 2026  ·  CONFIDENTIEL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740664" cy="246888"/>
          </a:xfrm>
          <a:prstGeom prst="rect">
            <a:avLst>
              <a:gd name="adj" fmla="val 14815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95928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AdTech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15568" y="3977640"/>
            <a:ext cx="818388" cy="246888"/>
          </a:xfrm>
          <a:prstGeom prst="rect">
            <a:avLst>
              <a:gd name="adj" fmla="val 14815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5568" y="399592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57400" y="3977640"/>
            <a:ext cx="1673352" cy="246888"/>
          </a:xfrm>
          <a:prstGeom prst="rect">
            <a:avLst>
              <a:gd name="adj" fmla="val 14815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995928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de l'Ouest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069080" y="3977640"/>
            <a:ext cx="585216" cy="246888"/>
          </a:xfrm>
          <a:prstGeom prst="rect">
            <a:avLst>
              <a:gd name="adj" fmla="val 14815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69080" y="399592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acteurs insatisfaits, un marché inexploité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📢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L'Annonceur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mal ses clients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publicitaires digitaux existants (Facebook Ads, Google Ads) sont trop complexes, trop chers, et ne ciblent pas précisément les audiences locales africaines. Aucun ROI mesurable.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6060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23444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371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55848" y="1938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L'Abonné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231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des pubs sans rien gagner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93008" y="254203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d'Africains regardent des publicités sur leur téléphone chaque jour. Leur attention a une valeur marchande réelle. Pourtant, ils ne sont jamais rémunérés.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54496" y="1234440"/>
            <a:ext cx="26060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123444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371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💔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54496" y="1938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Marché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4496" y="2231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engagement pub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91656" y="254203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d'engagement publicitaire digital en Afrique de l'Ouest est parmi les plus bas au monde, faute d'incitation. Les annonceurs gaspillent leur budget.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oon.click connecte annonceurs et abonnés dans un échange de valeur direct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468880" cy="2926080"/>
          </a:xfrm>
          <a:prstGeom prst="rect">
            <a:avLst/>
          </a:prstGeom>
          <a:solidFill>
            <a:srgbClr val="000000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46888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🏢 ANNONCEUR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Crée sa campagne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Cible ses critères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Paie 100 FCFA/abonné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468880" cy="2926080"/>
          </a:xfrm>
          <a:prstGeom prst="rect">
            <a:avLst/>
          </a:prstGeom>
          <a:solidFill>
            <a:srgbClr val="000000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46888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oon.click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 les abonnés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Diffuse la pub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Valide l'engagement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468880" cy="2926080"/>
          </a:xfrm>
          <a:prstGeom prst="rect">
            <a:avLst/>
          </a:prstGeom>
          <a:solidFill>
            <a:srgbClr val="1C2B3A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34440"/>
            <a:ext cx="2468880" cy="5943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ABONNÉ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Ouvre la pub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Visionne (30s)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Gagne des FCFA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61488" y="2560320"/>
            <a:ext cx="475488" cy="0"/>
          </a:xfrm>
          <a:prstGeom prst="line">
            <a:avLst/>
          </a:prstGeom>
          <a:noFill/>
          <a:ln w="3175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42432" y="2560320"/>
            <a:ext cx="475488" cy="0"/>
          </a:xfrm>
          <a:prstGeom prst="line">
            <a:avLst/>
          </a:prstGeom>
          <a:noFill/>
          <a:ln w="3175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00C896">
              <a:alpha val="13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L'abonné est rémunéré en FCFA réels, retirables via Mobile Money dès 5 000 FCFA de solde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Opportunité de Marché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130M+ d'habitants FCFA sous-équipé en outils AdTech locaux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1965960" cy="5943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mobile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en CI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65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34440"/>
            <a:ext cx="1965960" cy="594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7830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PME/entreprises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budget digital CI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65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34440"/>
            <a:ext cx="1965960" cy="59436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3M+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7830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Ivoiriens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diaspora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65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234440"/>
            <a:ext cx="1965960" cy="5943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130M+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6560" y="17830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zone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(même FCFA)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850392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651760"/>
            <a:ext cx="2331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51760"/>
            <a:ext cx="2331720" cy="59436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2724912"/>
            <a:ext cx="507492" cy="246888"/>
          </a:xfrm>
          <a:prstGeom prst="rect">
            <a:avLst>
              <a:gd name="adj" fmla="val 14815"/>
            </a:avLst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743200"/>
            <a:ext cx="50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3035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8,5M utilisateurs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" y="3474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internautes mobile CI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2651760"/>
            <a:ext cx="2331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2651760"/>
            <a:ext cx="2331720" cy="59436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16352" y="2724912"/>
            <a:ext cx="507492" cy="246888"/>
          </a:xfrm>
          <a:prstGeom prst="rect">
            <a:avLst>
              <a:gd name="adj" fmla="val 14815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2743200"/>
            <a:ext cx="507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0" y="3035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4,2M cibles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834640" y="3474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18-55 ans, revenus moyens+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66360" y="2651760"/>
            <a:ext cx="23317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66360" y="2651760"/>
            <a:ext cx="2331720" cy="5943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9512" y="2724912"/>
            <a:ext cx="1051560" cy="246888"/>
          </a:xfrm>
          <a:prstGeom prst="rect">
            <a:avLst>
              <a:gd name="adj" fmla="val 14815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9512" y="27432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(An 1)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66360" y="3035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50 000 abonnés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257800" y="3474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abonnés actifs M+12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Économique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sources de revenus récurrents — centré sur la marge publicitaire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Annonceur cible 1 000 abonnés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100 FCFA × 1000 = 100 000 FCFA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 reçoit 50 FCFA/vue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oon.click : marge 50 FCFA/vue = 50 000 FCFA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84832"/>
            <a:ext cx="411480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Commission Campagnes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FCFA/abonné ciblé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715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~50% de marge nette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principale (80% revenus)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084832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084832"/>
            <a:ext cx="4114800" cy="5943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Formats Premium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+50% · Flash +20%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715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 +30% · Audio Ads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962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revenus en moyenne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502152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02152"/>
            <a:ext cx="4114800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OON Pro Annonceur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15k-150k FCFA/mois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· Business · Premium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379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récurrent mensuel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502152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02152"/>
            <a:ext cx="4114800" cy="594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Marketplace Créatifs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12% sur 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créatifs/annonceurs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4379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créatif local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Produit — oon.click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domaines fonctionnels · 71 fonctionnalités · Web + Mobile Flutter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167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13167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" y="1536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Niveaux, streaks, badges, leaderboard, Mission Board, Scratch &amp; Win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207008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07008"/>
            <a:ext cx="2651760" cy="6400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167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21608" y="13167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Annonceur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21608" y="1536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test, Lookalike, Retargeting, Reach estimé, Badge Vérifié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1207008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07008"/>
            <a:ext cx="26517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3167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47688" y="13167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Innovants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47688" y="1536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(sondage), Audio Ads, Géolocalisé, Countdown, Séries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715768"/>
            <a:ext cx="26517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254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5528" y="2825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Analytics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" y="30449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Push Timing, Trust Score, Churn Prediction, Ad Relevance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2715768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715768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8254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21608" y="2825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21608" y="30449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serveur, Fingerprinting, KYC progressif, Modération IA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2715768"/>
            <a:ext cx="26517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715768"/>
            <a:ext cx="26517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8254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47688" y="2825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47688" y="30449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Diaspora, USSD sans smartphone, Expansion UEMOA (130M+)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18 Semaines vers le Lancement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BMAD · Sprint Agile · MVP en 10 semaines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39216" cy="47548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839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6808" y="1828800"/>
            <a:ext cx="0" cy="228600"/>
          </a:xfrm>
          <a:prstGeom prst="line">
            <a:avLst/>
          </a:prstGeom>
          <a:noFill/>
          <a:ln w="19050">
            <a:solidFill>
              <a:srgbClr val="1A3C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9968"/>
            <a:ext cx="839216" cy="2542032"/>
          </a:xfrm>
          <a:prstGeom prst="rect">
            <a:avLst/>
          </a:prstGeom>
          <a:solidFill>
            <a:srgbClr val="1A3C6E">
              <a:alpha val="13000"/>
            </a:srgbClr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66544"/>
            <a:ext cx="839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" y="2304288"/>
            <a:ext cx="766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2606040"/>
            <a:ext cx="766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CI/CD, BDD, Sandbox Paystack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51280" y="1325880"/>
            <a:ext cx="3521456" cy="47548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1280" y="1335024"/>
            <a:ext cx="352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12008" y="1828800"/>
            <a:ext cx="0" cy="228600"/>
          </a:xfrm>
          <a:prstGeom prst="line">
            <a:avLst/>
          </a:prstGeom>
          <a:noFill/>
          <a:ln w="19050">
            <a:solidFill>
              <a:srgbClr val="00A8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1280" y="2029968"/>
            <a:ext cx="3521456" cy="2542032"/>
          </a:xfrm>
          <a:prstGeom prst="rect">
            <a:avLst/>
          </a:prstGeom>
          <a:solidFill>
            <a:srgbClr val="00A878">
              <a:alpha val="13000"/>
            </a:srgbClr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1280" y="2066544"/>
            <a:ext cx="352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3-10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87856" y="2304288"/>
            <a:ext cx="344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7856" y="2606040"/>
            <a:ext cx="3448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Profil, Campagnes, Diffusion, Crédit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27600" y="1325880"/>
            <a:ext cx="839216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7600" y="1335024"/>
            <a:ext cx="839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47208" y="1828800"/>
            <a:ext cx="0" cy="22860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27600" y="2029968"/>
            <a:ext cx="839216" cy="2542032"/>
          </a:xfrm>
          <a:prstGeom prst="rect">
            <a:avLst/>
          </a:prstGeom>
          <a:solidFill>
            <a:srgbClr val="E07B39">
              <a:alpha val="13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7600" y="2066544"/>
            <a:ext cx="839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11-12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64176" y="2304288"/>
            <a:ext cx="766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64176" y="2606040"/>
            <a:ext cx="766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Paystack, Escrow, Retraits, KYC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21680" y="1325880"/>
            <a:ext cx="1286256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21680" y="1335024"/>
            <a:ext cx="1286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64808" y="1828800"/>
            <a:ext cx="0" cy="22860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1680" y="2029968"/>
            <a:ext cx="1286256" cy="2542032"/>
          </a:xfrm>
          <a:prstGeom prst="rect">
            <a:avLst/>
          </a:prstGeom>
          <a:solidFill>
            <a:srgbClr val="6366F1">
              <a:alpha val="13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21680" y="2066544"/>
            <a:ext cx="1286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13-15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8256" y="2304288"/>
            <a:ext cx="121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8256" y="2606040"/>
            <a:ext cx="1213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Parrainage, Formats Premium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62800" y="1325880"/>
            <a:ext cx="839216" cy="47548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2800" y="1335024"/>
            <a:ext cx="839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82408" y="1828800"/>
            <a:ext cx="0" cy="228600"/>
          </a:xfrm>
          <a:prstGeom prst="line">
            <a:avLst/>
          </a:prstGeom>
          <a:noFill/>
          <a:ln w="19050">
            <a:solidFill>
              <a:srgbClr val="FF704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62800" y="2029968"/>
            <a:ext cx="839216" cy="2542032"/>
          </a:xfrm>
          <a:prstGeom prst="rect">
            <a:avLst/>
          </a:prstGeom>
          <a:solidFill>
            <a:srgbClr val="FF7043">
              <a:alpha val="13000"/>
            </a:srgbClr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62800" y="2066544"/>
            <a:ext cx="839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16-17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99376" y="2304288"/>
            <a:ext cx="766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99376" y="2606040"/>
            <a:ext cx="766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Dashboard, A/B Test, Smart Push IA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056880" y="1325880"/>
            <a:ext cx="392176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52968" y="1828800"/>
            <a:ext cx="0" cy="22860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56880" y="2029968"/>
            <a:ext cx="392176" cy="2542032"/>
          </a:xfrm>
          <a:prstGeom prst="rect">
            <a:avLst/>
          </a:prstGeom>
          <a:solidFill>
            <a:srgbClr val="FFD166">
              <a:alpha val="13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56880" y="2066544"/>
            <a:ext cx="392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PRD + Architecture validés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4572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Levée de fonds ciblée : 50M FCFA (Phase 1 &amp; 2)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Projections Financières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 dès l'An 2 — Scénario réaliste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192865"/>
            <a:ext cx="1645920" cy="9897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2710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123M FCFA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768803"/>
            <a:ext cx="1645920" cy="523037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40304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650M FCFA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304300"/>
            <a:ext cx="1645920" cy="19875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385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2470M FCFA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6092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5528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4964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0" y="161848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actifs (MAU)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60920" y="161848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0" y="161848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49640" y="161848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66560" y="212140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Annonceurs actifs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60920" y="212140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55280" y="212140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49640" y="212140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0" y="262432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totaux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60920" y="262432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123M FCFA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55280" y="262432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 FCFA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49640" y="262432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2,47Md FCFA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0" y="312724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60920" y="312724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-14M FCFA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55280" y="312724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77M FCFA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49640" y="312724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542M FCFA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66560" y="363016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fin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60920" y="363016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 FCFA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363016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 FCFA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49640" y="3630168"/>
            <a:ext cx="566928" cy="475488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576M FCFA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66560" y="413308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60920" y="413308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55280" y="413308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49640" y="4133088"/>
            <a:ext cx="566928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6092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95528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49640" y="1115568"/>
            <a:ext cx="566928" cy="475488"/>
          </a:xfrm>
          <a:prstGeom prst="rect">
            <a:avLst/>
          </a:prstGeom>
          <a:solidFill>
            <a:srgbClr val="0D1B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Abidjan · Expansion nationale · Déploiement UEMOA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74320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Phase 1 — M0 à M+2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Abidjan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early adopters pré-inscrits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microinfluenceurs activés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85292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'Gagne 500 FCFA'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26440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72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universités partenaires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67588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annonceurs fondateurs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35808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7432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170432"/>
            <a:ext cx="2743200" cy="6400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2618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Phase 2 — M+3 à M+6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55848" y="16276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CI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029968"/>
            <a:ext cx="91440" cy="914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Créateurs Officiels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2441448"/>
            <a:ext cx="91440" cy="914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saisonnières (Ramadan, 7 août)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852928"/>
            <a:ext cx="91440" cy="914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Bouaké / Korhogo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3264408"/>
            <a:ext cx="91440" cy="914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172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opérateurs télécoms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3675888"/>
            <a:ext cx="91440" cy="914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Mode Diaspora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07608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17920" y="1170432"/>
            <a:ext cx="27432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170432"/>
            <a:ext cx="27432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2618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Phase 3 — M+7 à M+12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27648" y="16276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UEMOA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55080" y="202996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 (FCFA commun)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55080" y="244144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285292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Programmatique ouverte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326440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172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OON for Business agences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55080" y="3675888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50 000 abonnés actifs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 Concurrentiel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28600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115568"/>
            <a:ext cx="1371600" cy="347472"/>
          </a:xfrm>
          <a:prstGeom prst="rect">
            <a:avLst/>
          </a:prstGeom>
          <a:solidFill>
            <a:srgbClr val="00C896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oon.click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1115568"/>
            <a:ext cx="14173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9240" y="1115568"/>
            <a:ext cx="14173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115568"/>
            <a:ext cx="141732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1155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Reward (Swagbucks)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81328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481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Rémunération utilisateur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481328"/>
            <a:ext cx="1371600" cy="438912"/>
          </a:xfrm>
          <a:prstGeom prst="rect">
            <a:avLst/>
          </a:prstGeom>
          <a:solidFill>
            <a:srgbClr val="E6FF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481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Oui (FCFA)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14813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4813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14813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4813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14813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4813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Limitée (USD)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938528"/>
            <a:ext cx="228600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9385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audience locale CI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1938528"/>
            <a:ext cx="1371600" cy="438912"/>
          </a:xfrm>
          <a:prstGeom prst="rect">
            <a:avLst/>
          </a:prstGeom>
          <a:solidFill>
            <a:srgbClr val="D0F7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1938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Multicritères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19385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19385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19385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19385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19385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19385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395728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395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(FCFA)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0" y="2395728"/>
            <a:ext cx="1371600" cy="438912"/>
          </a:xfrm>
          <a:prstGeom prst="rect">
            <a:avLst/>
          </a:prstGeom>
          <a:solidFill>
            <a:srgbClr val="E6FF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23957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3957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49240" y="23957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23957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23957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3957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852928"/>
            <a:ext cx="228600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8529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minimum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0" y="2852928"/>
            <a:ext cx="1371600" cy="438912"/>
          </a:xfrm>
          <a:prstGeom prst="rect">
            <a:avLst/>
          </a:prstGeom>
          <a:solidFill>
            <a:srgbClr val="D0F7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28529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5 000 FCFA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31920" y="28529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28529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15 000+ FCFA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49240" y="28529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28529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30 000+ FCFA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66560" y="28529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28529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3310128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3101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mesurable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0" y="3310128"/>
            <a:ext cx="1371600" cy="438912"/>
          </a:xfrm>
          <a:prstGeom prst="rect">
            <a:avLst/>
          </a:prstGeom>
          <a:solidFill>
            <a:srgbClr val="E6FF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0" y="33101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Vue validée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31920" y="33101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33101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Estimé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9240" y="33101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49240" y="33101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Estimé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66560" y="3310128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33101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Limité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3767328"/>
            <a:ext cx="228600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faible connexion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60320" y="3767328"/>
            <a:ext cx="1371600" cy="438912"/>
          </a:xfrm>
          <a:prstGeom prst="rect">
            <a:avLst/>
          </a:prstGeom>
          <a:solidFill>
            <a:srgbClr val="D0F7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0" y="3767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Oui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931920" y="37673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0" y="37673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349240" y="37673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49240" y="37673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766560" y="3767328"/>
            <a:ext cx="1417320" cy="43891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0" y="37673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E6FF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oon.click est la seule solution 100% locale, 100% Mobile Money, avec rémunération directe en FCFA.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L'Équipe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expérimentée en développement logiciel pour le secteur ivoirien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55448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594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353312"/>
            <a:ext cx="594360" cy="5943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 par GS2E / ERANOVE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572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DDI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9385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développement logiciel pour les 5 filiales ERANOVE (SODECI, CIE, CIPREL...). 100+ projets livrés. Expertise Flutter, NestJS, cloud.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14800" cy="155448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4114800" cy="594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1353312"/>
            <a:ext cx="594360" cy="5943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23560" y="1298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Sous-Directeur DDI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15727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 Lead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de la plateforme MARCEL IA (GenAI interne ERANOVE). Expert en BMAD, IA appliquée, et transformation digitale Afrique.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114800" cy="155448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4114800" cy="594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090672"/>
            <a:ext cx="594360" cy="5943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 Backend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33101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Infrastructure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675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Node.js/NestJS. Intégrations paiement Mobile Money. Architectures microservices déployées en production CI.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26080"/>
            <a:ext cx="4114800" cy="594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090672"/>
            <a:ext cx="594360" cy="5943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2356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 Mobile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33101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Senior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675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 cross-platform iOS/Android. Expert offline-first, faible connectivité, déploiement Play Store/App Store.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Utilisation des Fonds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recherchée : 50 000 000 FCFA (~76 000 EUR) — Seed 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Développement &amp; Tech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20 000 000 FCFA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1280160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280160"/>
            <a:ext cx="12801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636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dev (6 mois), infrastructure cloud, licences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Marketing &amp; Acquisition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12 500 000 FCFA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965960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965960"/>
            <a:ext cx="800100" cy="20116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2494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digitales, opérations terrain, influenceurs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Partenariats &amp; Légal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7 500 000 FCFA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2651760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2651760"/>
            <a:ext cx="480060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9352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Juriste ARTCI/BCEAO, accords opérateurs, KYC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Fonds de Roulement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6 000 000 FCFA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3337560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3337560"/>
            <a:ext cx="384048" cy="2011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6210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inscription (1er mois), escrow initial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Divers &amp; Imprévus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4 000 000 FCFA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4023360"/>
            <a:ext cx="3200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4023360"/>
            <a:ext cx="25603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3977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3068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 opérationnelle (10%)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00C896">
              <a:alpha val="13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ce financement → Beta lancée M+4 · Break-even atteint M+14 · 50 000 abonnés actifs M+12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Risques &amp; Mitigations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594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Fraude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225296"/>
            <a:ext cx="1207008" cy="246888"/>
          </a:xfrm>
          <a:prstGeom prst="rect">
            <a:avLst>
              <a:gd name="adj" fmla="val 1481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243584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Proba: HAUTE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Anti-fraude dès Sprint 3 : Trust Score, timer serveur, fingerprinting. Tolérance &lt; 2%.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15568"/>
            <a:ext cx="2743200" cy="5943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207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Paiements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225296"/>
            <a:ext cx="1362456" cy="246888"/>
          </a:xfrm>
          <a:prstGeom prst="rect">
            <a:avLst>
              <a:gd name="adj" fmla="val 14815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24358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Proba: MOYENNE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55848" y="1554480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Sandbox Paystack dès Phase 0. Webhook HMAC sécurisé. Escrow strict avant diffusion.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2871216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871216"/>
            <a:ext cx="2743200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962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Réseau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2980944"/>
            <a:ext cx="1207008" cy="246888"/>
          </a:xfrm>
          <a:prstGeom prst="rect">
            <a:avLst>
              <a:gd name="adj" fmla="val 1481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9992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Proba: HAUTE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27648" y="331012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 offline Flutter, App Lite &lt; 10MB, CDN Cloudflare, Mode économie data.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871216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71216"/>
            <a:ext cx="2743200" cy="5943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962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Conformité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2980944"/>
            <a:ext cx="1362456" cy="246888"/>
          </a:xfrm>
          <a:prstGeom prst="rect">
            <a:avLst>
              <a:gd name="adj" fmla="val 14815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299923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Proba: MOYENNE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31012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 ARTCI/BCEAO dès Phase 0. KYC progressif. Charte publicitaire publiée.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4626864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4626864"/>
            <a:ext cx="2743200" cy="594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4718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Adoption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4736592"/>
            <a:ext cx="1362456" cy="246888"/>
          </a:xfrm>
          <a:prstGeom prst="rect">
            <a:avLst>
              <a:gd name="adj" fmla="val 14815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75488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Proba: MOYENNE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55848" y="5065776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OON Express 3 minutes. Parrainage viral. Bonus inscription 500 FCFA dès J1.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4626864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4626864"/>
            <a:ext cx="2743200" cy="594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4718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Trésorerie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4736592"/>
            <a:ext cx="1284732" cy="246888"/>
          </a:xfrm>
          <a:prstGeom prst="rect">
            <a:avLst>
              <a:gd name="adj" fmla="val 1481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4754880"/>
            <a:ext cx="1284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Proba: FAIBLE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27648" y="5065776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Escrow strict : paiement annonceur AVANT diffusion. Pas d'exposition risque crédit.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1328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1328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1328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5456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05456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05456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05456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9584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9584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9584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9584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9584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712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3712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1968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01968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6096" y="182880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26096" y="987552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6096" y="1792224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26096" y="2596896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26096" y="3401568"/>
            <a:ext cx="45720" cy="45720"/>
          </a:xfrm>
          <a:prstGeom prst="ellipse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 l'aventure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oon.click</a:t>
            </a: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365760" y="2286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plateforme AdTech africaine qui rémunère l'attention.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97280" y="2852928"/>
            <a:ext cx="2240280" cy="841248"/>
          </a:xfrm>
          <a:prstGeom prst="rect">
            <a:avLst/>
          </a:prstGeom>
          <a:solidFill>
            <a:srgbClr val="00C896">
              <a:alpha val="13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28712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50 000 000 FCFA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97280" y="33101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en cours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03320" y="2852928"/>
            <a:ext cx="2240280" cy="841248"/>
          </a:xfrm>
          <a:prstGeom prst="rect">
            <a:avLst/>
          </a:prstGeom>
          <a:solidFill>
            <a:srgbClr val="FF7043">
              <a:alpha val="13000"/>
            </a:srgbClr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28712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M+14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703320" y="33101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attendu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9360" y="2852928"/>
            <a:ext cx="2240280" cy="841248"/>
          </a:xfrm>
          <a:prstGeom prst="rect">
            <a:avLst/>
          </a:prstGeom>
          <a:solidFill>
            <a:srgbClr val="6366F1">
              <a:alpha val="13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28712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130M+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309360" y="33101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UEMOA potentiel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4279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direction@gse2.ci  ·  oon.click  ·  Mars 2026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confidentiel — GS2E / ERANOVE Group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794760" y="4800600"/>
            <a:ext cx="1207008" cy="246888"/>
          </a:xfrm>
          <a:prstGeom prst="rect">
            <a:avLst>
              <a:gd name="adj" fmla="val 14815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94760" y="481888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oon.click — Pitch Deck Investisseurs</dc:title>
  <dc:subject>PptxGenJS Presentation</dc:subject>
  <dc:creator>GS2E / ERANOVE</dc:creator>
  <cp:lastModifiedBy>GS2E / ERANOVE</cp:lastModifiedBy>
  <cp:revision>1</cp:revision>
  <dcterms:created xsi:type="dcterms:W3CDTF">2026-03-15T16:53:30Z</dcterms:created>
  <dcterms:modified xsi:type="dcterms:W3CDTF">2026-03-15T16:53:30Z</dcterms:modified>
</cp:coreProperties>
</file>